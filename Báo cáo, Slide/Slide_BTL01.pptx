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package/2006/relationships/metadata/thumbnail" Target="docProps/thumbnail.jpeg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image" Target="../media/image6.png"/><Relationship Id="rId3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image" Target="../media/image8.png"/><Relationship Id="rId3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AAC8FF"/>
                </a:solidFill>
                <a:latin typeface="Calibri" panose="020F0502020204030204"/>
              </a:rPr>
              <a:t>HỌC SÂU – BÀI TẬP LỚN BTL01</a:t>
            </a:r>
            <a:endParaRPr sz="2000" b="1">
              <a:solidFill>
                <a:srgbClr val="AAC8FF"/>
              </a:solidFill>
              <a:latin typeface="Calibri" panose="020F0502020204030204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1069848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200" b="1">
                <a:solidFill>
                  <a:srgbClr val="FFFFFF"/>
                </a:solidFill>
                <a:latin typeface="Calibri" panose="020F0502020204030204"/>
              </a:rPr>
              <a:t>Xấp xỉ hàm Gaussian hai chiều bằng mạng MLP (PyTorch)</a:t>
            </a:r>
            <a:endParaRPr sz="42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4114800"/>
            <a:ext cx="10698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0">
                <a:solidFill>
                  <a:srgbClr val="DCE6FA"/>
                </a:solidFill>
                <a:latin typeface="Calibri" panose="020F0502020204030204"/>
              </a:rPr>
              <a:t>Ảnh hưởng của số mẫu huấn luyện A, số nơ-ron tầng ẩn B và số tầng ẩn C</a:t>
            </a:r>
            <a:endParaRPr sz="2200" b="0">
              <a:solidFill>
                <a:srgbClr val="DCE6FA"/>
              </a:solidFill>
              <a:latin typeface="Calibri" panose="020F0502020204030204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31520" y="5303520"/>
            <a:ext cx="10698480" cy="645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vi-VN" sz="1800" b="0">
                <a:solidFill>
                  <a:srgbClr val="C8D2E6"/>
                </a:solidFill>
                <a:latin typeface="Calibri" panose="020F0502020204030204"/>
              </a:rPr>
              <a:t>Trần Nguyễn Minh Tiến-</a:t>
            </a:r>
            <a:r>
              <a:rPr lang="vi-VN" sz="1800" b="0">
                <a:solidFill>
                  <a:srgbClr val="C8D2E6"/>
                </a:solidFill>
                <a:latin typeface="Calibri" panose="020F0502020204030204"/>
              </a:rPr>
              <a:t>3123580052</a:t>
            </a:r>
            <a:endParaRPr lang="vi-VN" sz="1800" b="0">
              <a:solidFill>
                <a:srgbClr val="C8D2E6"/>
              </a:solidFill>
              <a:latin typeface="Calibri" panose="020F0502020204030204"/>
            </a:endParaRPr>
          </a:p>
          <a:p>
            <a:pPr algn="l"/>
            <a:r>
              <a:rPr lang="vi-VN" sz="1800" b="0">
                <a:solidFill>
                  <a:srgbClr val="C8D2E6"/>
                </a:solidFill>
                <a:latin typeface="Calibri" panose="020F0502020204030204"/>
              </a:rPr>
              <a:t>Nguyễn Gia  Huy-</a:t>
            </a:r>
            <a:r>
              <a:rPr lang="vi-VN" sz="1800" b="0">
                <a:solidFill>
                  <a:srgbClr val="C8D2E6"/>
                </a:solidFill>
                <a:latin typeface="Calibri" panose="020F0502020204030204"/>
              </a:rPr>
              <a:t>3123580016</a:t>
            </a:r>
            <a:endParaRPr lang="vi-VN" sz="1800" b="0">
              <a:solidFill>
                <a:srgbClr val="C8D2E6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 panose="020F0502020204030204"/>
              </a:rPr>
              <a:t>Mục tiêu và bài toán</a:t>
            </a:r>
            <a:endParaRPr sz="28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95959"/>
                </a:solidFill>
                <a:latin typeface="Calibri" panose="020F0502020204030204"/>
              </a:rPr>
              <a:t>2</a:t>
            </a:r>
            <a:endParaRPr sz="1100" b="0">
              <a:solidFill>
                <a:srgbClr val="595959"/>
              </a:solidFill>
              <a:latin typeface="Calibri" panose="020F0502020204030204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65836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1">
                <a:solidFill>
                  <a:schemeClr val="tx1"/>
                </a:solidFill>
              </a:rPr>
              <a:t>• </a:t>
            </a:r>
            <a:r>
              <a:rPr sz="1800" b="1">
                <a:solidFill>
                  <a:schemeClr val="tx1"/>
                </a:solidFill>
                <a:latin typeface="Calibri" panose="020F0502020204030204"/>
              </a:rPr>
              <a:t>Mục tiêu:</a:t>
            </a:r>
            <a:r>
              <a:rPr sz="1800" b="0">
                <a:solidFill>
                  <a:schemeClr val="tx1"/>
                </a:solidFill>
                <a:latin typeface="Calibri" panose="020F0502020204030204"/>
              </a:rPr>
              <a:t> xây dựng, huấn luyện MLP hồi quy bằng </a:t>
            </a:r>
            <a:r>
              <a:rPr sz="1800" b="1">
                <a:solidFill>
                  <a:schemeClr val="tx1"/>
                </a:solidFill>
                <a:latin typeface="Calibri" panose="020F0502020204030204"/>
              </a:rPr>
              <a:t>PyTorch</a:t>
            </a:r>
            <a:r>
              <a:rPr sz="1800" b="0">
                <a:solidFill>
                  <a:schemeClr val="tx1"/>
                </a:solidFill>
                <a:latin typeface="Calibri" panose="020F0502020204030204"/>
              </a:rPr>
              <a:t>; thực nghiệm có kiểm soát theo A, B, C.</a:t>
            </a:r>
            <a:endParaRPr sz="1800" b="0">
              <a:solidFill>
                <a:schemeClr val="tx1"/>
              </a:solidFill>
              <a:latin typeface="Calibri" panose="020F0502020204030204"/>
            </a:endParaRPr>
          </a:p>
          <a:p>
            <a:pPr>
              <a:spcAft>
                <a:spcPts val="800"/>
              </a:spcAft>
            </a:pPr>
            <a:r>
              <a:rPr sz="1800" b="1">
                <a:solidFill>
                  <a:schemeClr val="tx1"/>
                </a:solidFill>
              </a:rPr>
              <a:t>• </a:t>
            </a:r>
            <a:r>
              <a:rPr sz="1800" b="1">
                <a:solidFill>
                  <a:schemeClr val="tx1"/>
                </a:solidFill>
                <a:latin typeface="Calibri" panose="020F0502020204030204"/>
              </a:rPr>
              <a:t>Hàm cần xấp xỉ:</a:t>
            </a:r>
            <a:r>
              <a:rPr sz="1800" b="0">
                <a:solidFill>
                  <a:schemeClr val="tx1"/>
                </a:solidFill>
                <a:latin typeface="Calibri" panose="020F0502020204030204"/>
              </a:rPr>
              <a:t> Gaussian 2 chiều  f(x) = exp(−½ (x−μ)ᵀC⁻¹(x−μ)) / (2π√det C)</a:t>
            </a:r>
            <a:endParaRPr sz="1800" b="0">
              <a:solidFill>
                <a:schemeClr val="tx1"/>
              </a:solidFill>
              <a:latin typeface="Calibri" panose="020F0502020204030204"/>
            </a:endParaRPr>
          </a:p>
          <a:p>
            <a:pPr>
              <a:spcAft>
                <a:spcPts val="800"/>
              </a:spcAft>
            </a:pPr>
            <a:r>
              <a:rPr sz="1800" b="1">
                <a:solidFill>
                  <a:schemeClr val="tx1"/>
                </a:solidFill>
              </a:rPr>
              <a:t>• </a:t>
            </a:r>
            <a:r>
              <a:rPr sz="1800" b="1">
                <a:solidFill>
                  <a:schemeClr val="tx1"/>
                </a:solidFill>
                <a:latin typeface="Calibri" panose="020F0502020204030204"/>
              </a:rPr>
              <a:t>Tham số:</a:t>
            </a:r>
            <a:r>
              <a:rPr sz="1800" b="0">
                <a:solidFill>
                  <a:schemeClr val="tx1"/>
                </a:solidFill>
                <a:latin typeface="Calibri" panose="020F0502020204030204"/>
              </a:rPr>
              <a:t> μ = (0, 0);  C = [[0.3, −0.5], [−0.5, 2]];  đỉnh f(0) ≈ 0.269</a:t>
            </a:r>
            <a:endParaRPr sz="1800" b="0">
              <a:solidFill>
                <a:schemeClr val="tx1"/>
              </a:solidFill>
              <a:latin typeface="Calibri" panose="020F0502020204030204"/>
            </a:endParaRPr>
          </a:p>
          <a:p>
            <a:pPr>
              <a:spcAft>
                <a:spcPts val="800"/>
              </a:spcAft>
            </a:pPr>
            <a:r>
              <a:rPr sz="1800" b="1">
                <a:solidFill>
                  <a:schemeClr val="tx1"/>
                </a:solidFill>
              </a:rPr>
              <a:t>• </a:t>
            </a:r>
            <a:r>
              <a:rPr sz="1800" b="1">
                <a:solidFill>
                  <a:schemeClr val="tx1"/>
                </a:solidFill>
                <a:latin typeface="Calibri" panose="020F0502020204030204"/>
              </a:rPr>
              <a:t>Miền lấy mẫu:</a:t>
            </a:r>
            <a:r>
              <a:rPr sz="1800" b="0">
                <a:solidFill>
                  <a:schemeClr val="tx1"/>
                </a:solidFill>
                <a:latin typeface="Calibri" panose="020F0502020204030204"/>
              </a:rPr>
              <a:t> x₁ ∈ [−2, 2], x₂ ∈ [−4, 4]; nhãn y = f(x₁, x₂)</a:t>
            </a:r>
            <a:endParaRPr sz="1800" b="0">
              <a:solidFill>
                <a:schemeClr val="tx1"/>
              </a:solidFill>
              <a:latin typeface="Calibri" panose="020F0502020204030204"/>
            </a:endParaRPr>
          </a:p>
          <a:p>
            <a:pPr>
              <a:spcAft>
                <a:spcPts val="800"/>
              </a:spcAft>
            </a:pPr>
            <a:r>
              <a:rPr sz="1800" b="1">
                <a:solidFill>
                  <a:schemeClr val="tx1"/>
                </a:solidFill>
              </a:rPr>
              <a:t>• </a:t>
            </a:r>
            <a:r>
              <a:rPr sz="1800" b="1">
                <a:solidFill>
                  <a:schemeClr val="tx1"/>
                </a:solidFill>
                <a:latin typeface="Calibri" panose="020F0502020204030204"/>
              </a:rPr>
              <a:t>Chia dữ liệu:</a:t>
            </a:r>
            <a:r>
              <a:rPr sz="1800" b="0">
                <a:solidFill>
                  <a:schemeClr val="tx1"/>
                </a:solidFill>
                <a:latin typeface="Calibri" panose="020F0502020204030204"/>
              </a:rPr>
              <a:t> train (pool 2000) · validation 200 · test 100 — độc lập, seed 2026; test chỉ dùng đánh giá cuối</a:t>
            </a:r>
            <a:endParaRPr sz="1800" b="0">
              <a:solidFill>
                <a:schemeClr val="tx1"/>
              </a:solidFill>
              <a:latin typeface="Calibri" panose="020F0502020204030204"/>
            </a:endParaRPr>
          </a:p>
        </p:txBody>
      </p:sp>
      <p:pic>
        <p:nvPicPr>
          <p:cNvPr id="7" name="Picture 6" descr="fig02_true_surfac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0" y="2343576"/>
            <a:ext cx="4663440" cy="207940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 panose="020F0502020204030204"/>
              </a:rPr>
              <a:t>Dữ liệu: sinh, chia và khảo sát</a:t>
            </a:r>
            <a:endParaRPr sz="28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95959"/>
                </a:solidFill>
                <a:latin typeface="Calibri" panose="020F0502020204030204"/>
              </a:rPr>
              <a:t>3</a:t>
            </a:r>
            <a:endParaRPr sz="1100" b="0">
              <a:solidFill>
                <a:srgbClr val="595959"/>
              </a:solidFill>
              <a:latin typeface="Calibri" panose="020F0502020204030204"/>
            </a:endParaRPr>
          </a:p>
        </p:txBody>
      </p:sp>
      <p:pic>
        <p:nvPicPr>
          <p:cNvPr id="6" name="Picture 5" descr="fig01_data_scatter3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93973" y="1097280"/>
            <a:ext cx="9373572" cy="30175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4297680"/>
            <a:ext cx="1115568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1">
                <a:solidFill>
                  <a:schemeClr val="tx1"/>
                </a:solidFill>
              </a:rPr>
              <a:t>• </a:t>
            </a:r>
            <a:r>
              <a:rPr sz="1600" b="0">
                <a:solidFill>
                  <a:schemeClr val="tx1"/>
                </a:solidFill>
                <a:latin typeface="Calibri" panose="020F0502020204030204"/>
              </a:rPr>
              <a:t>3 luồng RNG độc lập (SeedSequence(2026).spawn) → không rò rỉ; lưu CSV, dùng cố định cho mọi thí nghiệm.</a:t>
            </a:r>
            <a:endParaRPr sz="1600" b="0">
              <a:solidFill>
                <a:schemeClr val="tx1"/>
              </a:solidFill>
              <a:latin typeface="Calibri" panose="020F0502020204030204"/>
            </a:endParaRPr>
          </a:p>
          <a:p>
            <a:pPr>
              <a:spcAft>
                <a:spcPts val="800"/>
              </a:spcAft>
            </a:pPr>
            <a:r>
              <a:rPr sz="1600" b="1">
                <a:solidFill>
                  <a:schemeClr val="tx1"/>
                </a:solidFill>
              </a:rPr>
              <a:t>• </a:t>
            </a:r>
            <a:r>
              <a:rPr sz="1600" b="0">
                <a:solidFill>
                  <a:schemeClr val="tx1"/>
                </a:solidFill>
                <a:latin typeface="Calibri" panose="020F0502020204030204"/>
              </a:rPr>
              <a:t>Mẫu phủ đều hình chữ nhật nhưng hàm chỉ đáng kể quanh gốc → </a:t>
            </a:r>
            <a:r>
              <a:rPr sz="1600" b="1">
                <a:solidFill>
                  <a:schemeClr val="tx1"/>
                </a:solidFill>
                <a:latin typeface="Calibri" panose="020F0502020204030204"/>
              </a:rPr>
              <a:t>y lệch phải mạnh</a:t>
            </a:r>
            <a:r>
              <a:rPr sz="1600" b="0">
                <a:solidFill>
                  <a:schemeClr val="tx1"/>
                </a:solidFill>
                <a:latin typeface="Calibri" panose="020F0502020204030204"/>
              </a:rPr>
              <a:t>, ít mẫu ở đỉnh (vùng khó nhất).</a:t>
            </a:r>
            <a:endParaRPr sz="1600" b="0">
              <a:solidFill>
                <a:schemeClr val="tx1"/>
              </a:solidFill>
              <a:latin typeface="Calibri" panose="020F0502020204030204"/>
            </a:endParaRPr>
          </a:p>
          <a:p>
            <a:pPr>
              <a:spcAft>
                <a:spcPts val="800"/>
              </a:spcAft>
            </a:pPr>
            <a:r>
              <a:rPr sz="1600" b="1">
                <a:solidFill>
                  <a:schemeClr val="tx1"/>
                </a:solidFill>
              </a:rPr>
              <a:t>• </a:t>
            </a:r>
            <a:r>
              <a:rPr sz="1600" b="0">
                <a:solidFill>
                  <a:schemeClr val="tx1"/>
                </a:solidFill>
                <a:latin typeface="Calibri" panose="020F0502020204030204"/>
              </a:rPr>
              <a:t>Chuẩn hoá đầu vào theo miền cố định (x₁/2, x₂/4) — không dùng thống kê val/test.</a:t>
            </a:r>
            <a:endParaRPr sz="1600" b="0">
              <a:solidFill>
                <a:schemeClr val="tx1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 panose="020F0502020204030204"/>
              </a:rPr>
              <a:t>Kiến trúc MLP</a:t>
            </a:r>
            <a:endParaRPr sz="28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95959"/>
                </a:solidFill>
                <a:latin typeface="Calibri" panose="020F0502020204030204"/>
              </a:rPr>
              <a:t>4</a:t>
            </a:r>
            <a:endParaRPr sz="1100" b="0">
              <a:solidFill>
                <a:srgbClr val="595959"/>
              </a:solidFill>
              <a:latin typeface="Calibri" panose="020F0502020204030204"/>
            </a:endParaRPr>
          </a:p>
        </p:txBody>
      </p:sp>
      <p:pic>
        <p:nvPicPr>
          <p:cNvPr id="6" name="Picture 5" descr="fig10_architectur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437298"/>
            <a:ext cx="7315200" cy="2520363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863840" y="1188720"/>
            <a:ext cx="40233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1">
                <a:solidFill>
                  <a:schemeClr val="tx1"/>
                </a:solidFill>
              </a:rPr>
              <a:t>• </a:t>
            </a:r>
            <a:r>
              <a:rPr sz="1600" b="0">
                <a:solidFill>
                  <a:schemeClr val="tx1"/>
                </a:solidFill>
                <a:latin typeface="Calibri" panose="020F0502020204030204"/>
              </a:rPr>
              <a:t>2 nút vào → C tầng ẩn × B nơ-ron (tanh) → 1 nút ra tuyến tính</a:t>
            </a:r>
            <a:endParaRPr sz="1600" b="0">
              <a:solidFill>
                <a:schemeClr val="tx1"/>
              </a:solidFill>
              <a:latin typeface="Calibri" panose="020F0502020204030204"/>
            </a:endParaRPr>
          </a:p>
          <a:p>
            <a:pPr>
              <a:spcAft>
                <a:spcPts val="800"/>
              </a:spcAft>
            </a:pPr>
            <a:r>
              <a:rPr sz="1600" b="1">
                <a:solidFill>
                  <a:schemeClr val="tx1"/>
                </a:solidFill>
              </a:rPr>
              <a:t>• </a:t>
            </a:r>
            <a:r>
              <a:rPr sz="1600" b="0">
                <a:solidFill>
                  <a:schemeClr val="tx1"/>
                </a:solidFill>
                <a:latin typeface="Calibri" panose="020F0502020204030204"/>
              </a:rPr>
              <a:t>nn.Linear có bias; số tham số 2–B–1: </a:t>
            </a:r>
            <a:r>
              <a:rPr sz="1600" b="1">
                <a:solidFill>
                  <a:schemeClr val="tx1"/>
                </a:solidFill>
                <a:latin typeface="Calibri" panose="020F0502020204030204"/>
              </a:rPr>
              <a:t>4B + 1</a:t>
            </a:r>
            <a:r>
              <a:rPr sz="1600" b="0">
                <a:solidFill>
                  <a:schemeClr val="tx1"/>
                </a:solidFill>
                <a:latin typeface="Calibri" panose="020F0502020204030204"/>
              </a:rPr>
              <a:t> (B = 10 → 41)</a:t>
            </a:r>
            <a:endParaRPr sz="1600" b="0">
              <a:solidFill>
                <a:schemeClr val="tx1"/>
              </a:solidFill>
              <a:latin typeface="Calibri" panose="020F0502020204030204"/>
            </a:endParaRPr>
          </a:p>
          <a:p>
            <a:pPr>
              <a:spcAft>
                <a:spcPts val="800"/>
              </a:spcAft>
            </a:pPr>
            <a:r>
              <a:rPr sz="1600" b="1">
                <a:solidFill>
                  <a:schemeClr val="tx1"/>
                </a:solidFill>
              </a:rPr>
              <a:t>• </a:t>
            </a:r>
            <a:r>
              <a:rPr sz="1600" b="0">
                <a:solidFill>
                  <a:schemeClr val="tx1"/>
                </a:solidFill>
                <a:latin typeface="Calibri" panose="020F0502020204030204"/>
              </a:rPr>
              <a:t>Loss: </a:t>
            </a:r>
            <a:r>
              <a:rPr sz="1600" b="1">
                <a:solidFill>
                  <a:schemeClr val="tx1"/>
                </a:solidFill>
                <a:latin typeface="Calibri" panose="020F0502020204030204"/>
              </a:rPr>
              <a:t>MSELoss</a:t>
            </a:r>
            <a:r>
              <a:rPr sz="1600" b="0">
                <a:solidFill>
                  <a:schemeClr val="tx1"/>
                </a:solidFill>
                <a:latin typeface="Calibri" panose="020F0502020204030204"/>
              </a:rPr>
              <a:t>; độ đo: MSE, MAE, RMSE</a:t>
            </a:r>
            <a:endParaRPr sz="1600" b="0">
              <a:solidFill>
                <a:schemeClr val="tx1"/>
              </a:solidFill>
              <a:latin typeface="Calibri" panose="020F0502020204030204"/>
            </a:endParaRPr>
          </a:p>
          <a:p>
            <a:pPr>
              <a:spcAft>
                <a:spcPts val="800"/>
              </a:spcAft>
            </a:pPr>
            <a:r>
              <a:rPr sz="1600" b="1">
                <a:solidFill>
                  <a:schemeClr val="tx1"/>
                </a:solidFill>
              </a:rPr>
              <a:t>• </a:t>
            </a:r>
            <a:r>
              <a:rPr sz="1600" b="0">
                <a:solidFill>
                  <a:schemeClr val="tx1"/>
                </a:solidFill>
                <a:latin typeface="Calibri" panose="020F0502020204030204"/>
              </a:rPr>
              <a:t>Adam, lr = 3·10⁻³, batch 64, tối đa 1000 epoch, early stopping (patience 100)</a:t>
            </a:r>
            <a:endParaRPr sz="1600" b="0">
              <a:solidFill>
                <a:schemeClr val="tx1"/>
              </a:solidFill>
              <a:latin typeface="Calibri" panose="020F050202020403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48640" y="4572000"/>
            <a:ext cx="7132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chemeClr val="tx1"/>
                </a:solidFill>
                <a:latin typeface="Calibri" panose="020F0502020204030204"/>
              </a:rPr>
              <a:t>ŷ = W⁽ᶜ⁺¹⁾ h⁽ᶜ⁾ + b⁽ᶜ⁺¹⁾,   h⁽ˡ⁾ = tanh(W⁽ˡ⁾ h⁽ˡ⁻¹⁾ + b⁽ˡ⁾),   h⁽⁰⁾ = x
L = (1/N) Σ (ŷᵢ − yᵢ)²</a:t>
            </a:r>
            <a:endParaRPr sz="1800" b="0">
              <a:solidFill>
                <a:schemeClr val="tx1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 panose="020F0502020204030204"/>
              </a:rPr>
              <a:t>Thành phần chính trong chương trình PyTorch</a:t>
            </a:r>
            <a:endParaRPr sz="28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95959"/>
                </a:solidFill>
                <a:latin typeface="Calibri" panose="020F0502020204030204"/>
              </a:rPr>
              <a:t>5</a:t>
            </a:r>
            <a:endParaRPr sz="1100" b="0">
              <a:solidFill>
                <a:srgbClr val="595959"/>
              </a:solidFill>
              <a:latin typeface="Calibri" panose="020F0502020204030204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7315200" cy="5120640"/>
          </a:xfrm>
          <a:prstGeom prst="rect">
            <a:avLst/>
          </a:prstGeom>
          <a:solidFill>
            <a:srgbClr val="F2F2F2"/>
          </a:solidFill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1E1E1E"/>
                </a:solidFill>
                <a:latin typeface="Consolas" panose="020B0609020204030204"/>
              </a:rPr>
              <a:t>class MLP(nn.Module):
    def __init__(self, in_dim=2, hidden=(10,), ...):
        layers, d = [], in_dim
        for h in hidden:                 # C = len(hidden), B = h
            layers += [nn.Linear(d, h), nn.Tanh()]; d = h
        layers.append(nn.Linear(d, 1)); self.net = nn.Sequential(*layers)
for epoch in range(1, epochs + 1):
    model.train()
    for xb, yb in loader:        # DataLoader(shuffle=True)
        optimizer.zero_grad()
        loss = criterion(model(xb), yb)
        loss.backward()
        optimizer.step()
    val_loss = eval_loss(model, Xva, yva)  # eval()+no_grad
    if val_loss &lt; best_val:                # checkpoint
        best_state = deepcopy(model.state_dict())</a:t>
            </a:r>
            <a:endParaRPr sz="1150" b="0">
              <a:solidFill>
                <a:srgbClr val="1E1E1E"/>
              </a:solidFill>
              <a:latin typeface="Consolas" panose="020B0609020204030204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046720" y="1188720"/>
            <a:ext cx="3931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1">
                <a:solidFill>
                  <a:schemeClr val="tx1"/>
                </a:solidFill>
              </a:rPr>
              <a:t>• </a:t>
            </a:r>
            <a:r>
              <a:rPr sz="1600" b="1">
                <a:solidFill>
                  <a:schemeClr val="tx1"/>
                </a:solidFill>
                <a:latin typeface="Calibri" panose="020F0502020204030204"/>
              </a:rPr>
              <a:t>Dataset/DataLoader</a:t>
            </a:r>
            <a:r>
              <a:rPr sz="1600" b="0">
                <a:solidFill>
                  <a:schemeClr val="tx1"/>
                </a:solidFill>
                <a:latin typeface="Calibri" panose="020F0502020204030204"/>
              </a:rPr>
              <a:t> + shuffle theo seed → tái lập</a:t>
            </a:r>
            <a:endParaRPr sz="1600" b="0">
              <a:solidFill>
                <a:schemeClr val="tx1"/>
              </a:solidFill>
              <a:latin typeface="Calibri" panose="020F0502020204030204"/>
            </a:endParaRPr>
          </a:p>
          <a:p>
            <a:pPr>
              <a:spcAft>
                <a:spcPts val="800"/>
              </a:spcAft>
            </a:pPr>
            <a:r>
              <a:rPr sz="1600" b="1">
                <a:solidFill>
                  <a:schemeClr val="tx1"/>
                </a:solidFill>
              </a:rPr>
              <a:t>• </a:t>
            </a:r>
            <a:r>
              <a:rPr sz="1600" b="1">
                <a:solidFill>
                  <a:schemeClr val="tx1"/>
                </a:solidFill>
                <a:latin typeface="Calibri" panose="020F0502020204030204"/>
              </a:rPr>
              <a:t>zero_grad → backward → step</a:t>
            </a:r>
            <a:r>
              <a:rPr sz="1600" b="0">
                <a:solidFill>
                  <a:schemeClr val="tx1"/>
                </a:solidFill>
                <a:latin typeface="Calibri" panose="020F0502020204030204"/>
              </a:rPr>
              <a:t>: tự viết vòng lặp</a:t>
            </a:r>
            <a:endParaRPr sz="1600" b="0">
              <a:solidFill>
                <a:schemeClr val="tx1"/>
              </a:solidFill>
              <a:latin typeface="Calibri" panose="020F0502020204030204"/>
            </a:endParaRPr>
          </a:p>
          <a:p>
            <a:pPr>
              <a:spcAft>
                <a:spcPts val="800"/>
              </a:spcAft>
            </a:pPr>
            <a:r>
              <a:rPr sz="1600" b="1">
                <a:solidFill>
                  <a:schemeClr val="tx1"/>
                </a:solidFill>
              </a:rPr>
              <a:t>• </a:t>
            </a:r>
            <a:r>
              <a:rPr sz="1600" b="1">
                <a:solidFill>
                  <a:schemeClr val="tx1"/>
                </a:solidFill>
                <a:latin typeface="Calibri" panose="020F0502020204030204"/>
              </a:rPr>
              <a:t>Validation</a:t>
            </a:r>
            <a:r>
              <a:rPr sz="1600" b="0">
                <a:solidFill>
                  <a:schemeClr val="tx1"/>
                </a:solidFill>
                <a:latin typeface="Calibri" panose="020F0502020204030204"/>
              </a:rPr>
              <a:t> mỗi epoch; lưu state_dict tốt nhất</a:t>
            </a:r>
            <a:endParaRPr sz="1600" b="0">
              <a:solidFill>
                <a:schemeClr val="tx1"/>
              </a:solidFill>
              <a:latin typeface="Calibri" panose="020F0502020204030204"/>
            </a:endParaRPr>
          </a:p>
          <a:p>
            <a:pPr>
              <a:spcAft>
                <a:spcPts val="800"/>
              </a:spcAft>
            </a:pPr>
            <a:r>
              <a:rPr sz="1600" b="1">
                <a:solidFill>
                  <a:schemeClr val="tx1"/>
                </a:solidFill>
              </a:rPr>
              <a:t>• </a:t>
            </a:r>
            <a:r>
              <a:rPr sz="1600" b="0">
                <a:solidFill>
                  <a:schemeClr val="tx1"/>
                </a:solidFill>
                <a:latin typeface="Calibri" panose="020F0502020204030204"/>
              </a:rPr>
              <a:t>Test chỉ đọc </a:t>
            </a:r>
            <a:r>
              <a:rPr sz="1600" b="1">
                <a:solidFill>
                  <a:schemeClr val="tx1"/>
                </a:solidFill>
                <a:latin typeface="Calibri" panose="020F0502020204030204"/>
              </a:rPr>
              <a:t>sau khi</a:t>
            </a:r>
            <a:r>
              <a:rPr sz="1600" b="0">
                <a:solidFill>
                  <a:schemeClr val="tx1"/>
                </a:solidFill>
                <a:latin typeface="Calibri" panose="020F0502020204030204"/>
              </a:rPr>
              <a:t> chọn mô hình</a:t>
            </a:r>
            <a:endParaRPr sz="1600" b="0">
              <a:solidFill>
                <a:schemeClr val="tx1"/>
              </a:solidFill>
              <a:latin typeface="Calibri" panose="020F0502020204030204"/>
            </a:endParaRPr>
          </a:p>
          <a:p>
            <a:pPr>
              <a:spcAft>
                <a:spcPts val="800"/>
              </a:spcAft>
            </a:pPr>
            <a:r>
              <a:rPr sz="1600" b="1">
                <a:solidFill>
                  <a:schemeClr val="tx1"/>
                </a:solidFill>
              </a:rPr>
              <a:t>• </a:t>
            </a:r>
            <a:r>
              <a:rPr sz="1600" b="0">
                <a:solidFill>
                  <a:schemeClr val="tx1"/>
                </a:solidFill>
                <a:latin typeface="Calibri" panose="020F0502020204030204"/>
              </a:rPr>
              <a:t>Notebook .ipynb: chạy từng nhóm; log CSV, hình, trọng số .pt</a:t>
            </a:r>
            <a:endParaRPr sz="1600" b="0">
              <a:solidFill>
                <a:schemeClr val="tx1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 panose="020F0502020204030204"/>
              </a:rPr>
              <a:t>Thiết lập thí nghiệm A / B / C</a:t>
            </a:r>
            <a:endParaRPr sz="28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95959"/>
                </a:solidFill>
                <a:latin typeface="Calibri" panose="020F0502020204030204"/>
              </a:rPr>
              <a:t>6</a:t>
            </a:r>
            <a:endParaRPr sz="1100" b="0">
              <a:solidFill>
                <a:srgbClr val="595959"/>
              </a:solidFill>
              <a:latin typeface="Calibri" panose="020F0502020204030204"/>
            </a:endParaRP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188720"/>
          <a:ext cx="1106424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2926080"/>
                <a:gridCol w="3108960"/>
                <a:gridCol w="3200400"/>
              </a:tblGrid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</a:rPr>
                        <a:t>Nhóm</a:t>
                      </a:r>
                      <a:endParaRPr sz="150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</a:rPr>
                        <a:t>Biến đổi</a:t>
                      </a:r>
                      <a:endParaRPr sz="150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</a:rPr>
                        <a:t>Giữ cố định</a:t>
                      </a:r>
                      <a:endParaRPr sz="150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</a:rPr>
                        <a:t>Đối chứng bổ sung</a:t>
                      </a:r>
                      <a:endParaRPr sz="150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1F386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595959"/>
                          </a:solidFill>
                        </a:rPr>
                        <a:t>A – số mẫu</a:t>
                      </a:r>
                      <a:endParaRPr sz="1500">
                        <a:solidFill>
                          <a:srgbClr val="595959"/>
                        </a:solidFill>
                      </a:endParaRPr>
                    </a:p>
                  </a:txBody>
                  <a:tcPr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595959"/>
                          </a:solidFill>
                        </a:rPr>
                        <a:t>A = 200, 400, …, 2000</a:t>
                      </a:r>
                      <a:endParaRPr sz="1500">
                        <a:solidFill>
                          <a:srgbClr val="595959"/>
                        </a:solidFill>
                      </a:endParaRPr>
                    </a:p>
                  </a:txBody>
                  <a:tcPr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595959"/>
                          </a:solidFill>
                        </a:rPr>
                        <a:t>B = 10, C = 1, 1000 epoch</a:t>
                      </a:r>
                      <a:endParaRPr sz="1500">
                        <a:solidFill>
                          <a:srgbClr val="595959"/>
                        </a:solidFill>
                      </a:endParaRPr>
                    </a:p>
                  </a:txBody>
                  <a:tcPr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595959"/>
                          </a:solidFill>
                        </a:rPr>
                        <a:t>A2: epoch ∝ 2000/A (cân bằng bước cập nhật)</a:t>
                      </a:r>
                      <a:endParaRPr sz="1500">
                        <a:solidFill>
                          <a:srgbClr val="595959"/>
                        </a:solidFill>
                      </a:endParaRPr>
                    </a:p>
                  </a:txBody>
                  <a:tcPr>
                    <a:solidFill>
                      <a:srgbClr val="EEF2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595959"/>
                          </a:solidFill>
                        </a:rPr>
                        <a:t>B – độ rộng</a:t>
                      </a:r>
                      <a:endParaRPr sz="1500">
                        <a:solidFill>
                          <a:srgbClr val="595959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595959"/>
                          </a:solidFill>
                        </a:rPr>
                        <a:t>B = 1…10 (+16, 32, 64)</a:t>
                      </a:r>
                      <a:endParaRPr sz="1500">
                        <a:solidFill>
                          <a:srgbClr val="595959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595959"/>
                          </a:solidFill>
                        </a:rPr>
                        <a:t>A = 2000, C = 1</a:t>
                      </a:r>
                      <a:endParaRPr sz="1500">
                        <a:solidFill>
                          <a:srgbClr val="595959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595959"/>
                          </a:solidFill>
                        </a:rPr>
                        <a:t>B2: A = 200 để quan sát quá khớp</a:t>
                      </a:r>
                      <a:endParaRPr sz="1500">
                        <a:solidFill>
                          <a:srgbClr val="595959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595959"/>
                          </a:solidFill>
                        </a:rPr>
                        <a:t>C – độ sâu</a:t>
                      </a:r>
                      <a:endParaRPr sz="1500">
                        <a:solidFill>
                          <a:srgbClr val="595959"/>
                        </a:solidFill>
                      </a:endParaRPr>
                    </a:p>
                  </a:txBody>
                  <a:tcPr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595959"/>
                          </a:solidFill>
                        </a:rPr>
                        <a:t>C = 1…5 tầng ẩn</a:t>
                      </a:r>
                      <a:endParaRPr sz="1500">
                        <a:solidFill>
                          <a:srgbClr val="595959"/>
                        </a:solidFill>
                      </a:endParaRPr>
                    </a:p>
                  </a:txBody>
                  <a:tcPr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595959"/>
                          </a:solidFill>
                        </a:rPr>
                        <a:t>A = 2000, 10 nơ-ron/tầng</a:t>
                      </a:r>
                      <a:endParaRPr sz="1500">
                        <a:solidFill>
                          <a:srgbClr val="595959"/>
                        </a:solidFill>
                      </a:endParaRPr>
                    </a:p>
                  </a:txBody>
                  <a:tcPr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595959"/>
                          </a:solidFill>
                        </a:rPr>
                        <a:t>so sánh ở cùng số tham số</a:t>
                      </a:r>
                      <a:endParaRPr sz="1500">
                        <a:solidFill>
                          <a:srgbClr val="595959"/>
                        </a:solidFill>
                      </a:endParaRPr>
                    </a:p>
                  </a:txBody>
                  <a:tcPr>
                    <a:solidFill>
                      <a:srgbClr val="EEF2F8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3474720"/>
            <a:ext cx="110642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1">
                <a:solidFill>
                  <a:schemeClr val="tx1"/>
                </a:solidFill>
              </a:rPr>
              <a:t>• </a:t>
            </a:r>
            <a:r>
              <a:rPr sz="1800" b="0">
                <a:solidFill>
                  <a:schemeClr val="tx1"/>
                </a:solidFill>
                <a:latin typeface="Calibri" panose="020F0502020204030204"/>
              </a:rPr>
              <a:t>Mọi nhóm: tanh, Adam lr 3·10⁻³ (chọn trên validation), batch 64, early stopping; dữ liệu cố định.</a:t>
            </a:r>
            <a:endParaRPr sz="1800" b="0">
              <a:solidFill>
                <a:schemeClr val="tx1"/>
              </a:solidFill>
              <a:latin typeface="Calibri" panose="020F0502020204030204"/>
            </a:endParaRPr>
          </a:p>
          <a:p>
            <a:pPr>
              <a:spcAft>
                <a:spcPts val="800"/>
              </a:spcAft>
            </a:pPr>
            <a:r>
              <a:rPr sz="1800" b="1">
                <a:solidFill>
                  <a:schemeClr val="tx1"/>
                </a:solidFill>
              </a:rPr>
              <a:t>• </a:t>
            </a:r>
            <a:endParaRPr sz="1800" b="0">
              <a:solidFill>
                <a:schemeClr val="tx1"/>
              </a:solidFill>
              <a:latin typeface="Calibri" panose="020F0502020204030204"/>
            </a:endParaRPr>
            <a:r>
              <a:rPr sz="1800" b="1">
                <a:solidFill>
                  <a:schemeClr val="tx1"/>
                </a:solidFill>
                <a:latin typeface="Calibri" panose="020F0502020204030204"/>
              </a:rPr>
              <a:t>Nhiều seed</a:t>
            </a:r>
            <a:r>
              <a:rPr sz="1800" b="0">
                <a:solidFill>
                  <a:schemeClr val="tx1"/>
                </a:solidFill>
                <a:latin typeface="Calibri" panose="020F0502020204030204"/>
              </a:rPr>
              <a:t> cho mỗi cấu hình → báo cáo trung bình ± độ lệch chuẩn (nhóm C: 10 lần chạy).</a:t>
            </a:r>
          </a:p>
          <a:p>
            <a:pPr>
              <a:spcAft>
                <a:spcPts val="800"/>
              </a:spcAft>
            </a:pPr>
            <a:r>
              <a:rPr sz="1800" b="1">
                <a:solidFill>
                  <a:schemeClr val="tx1"/>
                </a:solidFill>
              </a:rPr>
              <a:t>• </a:t>
            </a:r>
            <a:r>
              <a:rPr sz="1800" b="0">
                <a:solidFill>
                  <a:schemeClr val="tx1"/>
                </a:solidFill>
                <a:latin typeface="Calibri" panose="020F0502020204030204"/>
              </a:rPr>
              <a:t>Chọn checkpoint và mô hình cuối </a:t>
            </a:r>
            <a:r>
              <a:rPr sz="1800" b="1">
                <a:solidFill>
                  <a:schemeClr val="tx1"/>
                </a:solidFill>
                <a:latin typeface="Calibri" panose="020F0502020204030204"/>
              </a:rPr>
              <a:t>theo validation</a:t>
            </a:r>
            <a:r>
              <a:rPr sz="1800" b="0">
                <a:solidFill>
                  <a:schemeClr val="tx1"/>
                </a:solidFill>
                <a:latin typeface="Calibri" panose="020F0502020204030204"/>
              </a:rPr>
              <a:t>; test chỉ để báo cáo.</a:t>
            </a:r>
            <a:endParaRPr sz="1800" b="0">
              <a:solidFill>
                <a:schemeClr val="tx1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 panose="020F0502020204030204"/>
              </a:rPr>
              <a:t>Nhóm A – số mẫu huấn luyện</a:t>
            </a:r>
            <a:endParaRPr sz="28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95959"/>
                </a:solidFill>
                <a:latin typeface="Calibri" panose="020F0502020204030204"/>
              </a:rPr>
              <a:t>7</a:t>
            </a:r>
            <a:endParaRPr sz="1100" b="0">
              <a:solidFill>
                <a:srgbClr val="595959"/>
              </a:solidFill>
              <a:latin typeface="Calibri" panose="020F050202020403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  <a:latin typeface="Calibri" panose="020F0502020204030204"/>
              </a:rPr>
              <a:t>Số liệu: trung bình qua các seed (B = 10, C = 1, 1000 epoch cố định). Bảng chỉ trích A = 200, 800, 1400, 2000.</a:t>
            </a:r>
            <a:endParaRPr sz="1000" b="0">
              <a:solidFill>
                <a:srgbClr val="595959"/>
              </a:solidFill>
              <a:latin typeface="Calibri" panose="020F0502020204030204"/>
            </a:endParaRPr>
          </a:p>
        </p:txBody>
      </p:sp>
      <p:pic>
        <p:nvPicPr>
          <p:cNvPr id="6" name="Picture 5" descr="fig04_expA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525855"/>
            <a:ext cx="7863840" cy="280044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229600" y="1188720"/>
            <a:ext cx="3749039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1">
                <a:solidFill>
                  <a:schemeClr val="tx1"/>
                </a:solidFill>
              </a:rPr>
              <a:t>• </a:t>
            </a:r>
            <a:endParaRPr sz="1500" b="0">
              <a:solidFill>
                <a:schemeClr val="tx1"/>
              </a:solidFill>
              <a:latin typeface="Calibri" panose="020F0502020204030204"/>
            </a:endParaRPr>
            <a:r>
              <a:rPr sz="1500" b="0">
                <a:solidFill>
                  <a:schemeClr val="tx1"/>
                </a:solidFill>
                <a:latin typeface="Calibri" panose="020F0502020204030204"/>
              </a:rPr>
              <a:t>Test MSE: </a:t>
            </a:r>
            <a:r>
              <a:rPr sz="1500" b="1">
                <a:solidFill>
                  <a:schemeClr val="tx1"/>
                </a:solidFill>
                <a:latin typeface="Calibri" panose="020F0502020204030204"/>
              </a:rPr>
              <a:t>1.10e-3 → 5.06e-5</a:t>
            </a:r>
            <a:r>
              <a:rPr sz="1500" b="0">
                <a:solidFill>
                  <a:schemeClr val="tx1"/>
                </a:solidFill>
                <a:latin typeface="Calibri" panose="020F0502020204030204"/>
              </a:rPr>
              <a:t> (≈ 22× khi A: 200 → 2000)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chemeClr val="tx1"/>
                </a:solidFill>
              </a:rPr>
              <a:t>• </a:t>
            </a:r>
            <a:endParaRPr sz="1500" b="0">
              <a:solidFill>
                <a:schemeClr val="tx1"/>
              </a:solidFill>
              <a:latin typeface="Calibri" panose="020F0502020204030204"/>
            </a:endParaRPr>
            <a:r>
              <a:rPr sz="1500" b="0">
                <a:solidFill>
                  <a:schemeClr val="tx1"/>
                </a:solidFill>
                <a:latin typeface="Calibri" panose="020F0502020204030204"/>
              </a:rPr>
              <a:t>Giảm gần đơn điệu; độ lệch chuẩn qua seed lớn (≈ 20–75% trung bình), A = 1800 cao hơn A = 1600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chemeClr val="tx1"/>
                </a:solidFill>
              </a:rPr>
              <a:t>• </a:t>
            </a:r>
            <a:endParaRPr sz="1500" b="0">
              <a:solidFill>
                <a:schemeClr val="tx1"/>
              </a:solidFill>
              <a:latin typeface="Calibri" panose="020F0502020204030204"/>
            </a:endParaRPr>
            <a:r>
              <a:rPr sz="1500" b="0">
                <a:solidFill>
                  <a:schemeClr val="tx1"/>
                </a:solidFill>
                <a:latin typeface="Calibri" panose="020F0502020204030204"/>
              </a:rPr>
              <a:t>Chưa hội tụ ở 1000 epoch (best epoch ≈ 961–997) → cần đối chứng A2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4430000"/>
          <a:ext cx="7498079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99615"/>
                <a:gridCol w="1499615"/>
                <a:gridCol w="1499615"/>
                <a:gridCol w="1499615"/>
                <a:gridCol w="1499619"/>
              </a:tblGrid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A</a:t>
                      </a:r>
                      <a:endParaRPr sz="110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Train MSE</a:t>
                      </a:r>
                      <a:endParaRPr sz="110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Val MSE</a:t>
                      </a:r>
                      <a:endParaRPr sz="110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Test MSE</a:t>
                      </a:r>
                      <a:endParaRPr sz="110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Test MAE</a:t>
                      </a:r>
                      <a:endParaRPr sz="110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1F386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595959"/>
                          </a:solidFill>
                        </a:rPr>
                        <a:t>200</a:t>
                      </a:r>
                      <a:endParaRPr sz="1100">
                        <a:solidFill>
                          <a:srgbClr val="595959"/>
                        </a:solidFill>
                      </a:endParaRPr>
                    </a:p>
                  </a:txBody>
                  <a:tcPr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595959"/>
                          </a:solidFill>
                        </a:rPr>
                        <a:t>6.97e-4</a:t>
                      </a:r>
                      <a:endParaRPr sz="1100">
                        <a:solidFill>
                          <a:srgbClr val="595959"/>
                        </a:solidFill>
                      </a:endParaRPr>
                    </a:p>
                  </a:txBody>
                  <a:tcPr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595959"/>
                          </a:solidFill>
                        </a:rPr>
                        <a:t>9.58e-4</a:t>
                      </a:r>
                      <a:endParaRPr sz="1100">
                        <a:solidFill>
                          <a:srgbClr val="595959"/>
                        </a:solidFill>
                      </a:endParaRPr>
                    </a:p>
                  </a:txBody>
                  <a:tcPr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595959"/>
                          </a:solidFill>
                        </a:rPr>
                        <a:t>1.10e-3</a:t>
                      </a:r>
                      <a:endParaRPr sz="1100">
                        <a:solidFill>
                          <a:srgbClr val="595959"/>
                        </a:solidFill>
                      </a:endParaRPr>
                    </a:p>
                  </a:txBody>
                  <a:tcPr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595959"/>
                          </a:solidFill>
                        </a:rPr>
                        <a:t>2.38e-2</a:t>
                      </a:r>
                      <a:endParaRPr sz="1100">
                        <a:solidFill>
                          <a:srgbClr val="595959"/>
                        </a:solidFill>
                      </a:endParaRPr>
                    </a:p>
                  </a:txBody>
                  <a:tcPr>
                    <a:solidFill>
                      <a:srgbClr val="EEF2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595959"/>
                          </a:solidFill>
                        </a:rPr>
                        <a:t>800</a:t>
                      </a:r>
                      <a:endParaRPr sz="1100">
                        <a:solidFill>
                          <a:srgbClr val="595959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595959"/>
                          </a:solidFill>
                        </a:rPr>
                        <a:t>2.45e-4</a:t>
                      </a:r>
                      <a:endParaRPr sz="1100">
                        <a:solidFill>
                          <a:srgbClr val="595959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595959"/>
                          </a:solidFill>
                        </a:rPr>
                        <a:t>2.61e-4</a:t>
                      </a:r>
                      <a:endParaRPr sz="1100">
                        <a:solidFill>
                          <a:srgbClr val="595959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595959"/>
                          </a:solidFill>
                        </a:rPr>
                        <a:t>2.77e-4</a:t>
                      </a:r>
                      <a:endParaRPr sz="1100">
                        <a:solidFill>
                          <a:srgbClr val="595959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595959"/>
                          </a:solidFill>
                        </a:rPr>
                        <a:t>1.15e-2</a:t>
                      </a:r>
                      <a:endParaRPr sz="1100">
                        <a:solidFill>
                          <a:srgbClr val="595959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595959"/>
                          </a:solidFill>
                        </a:rPr>
                        <a:t>1400</a:t>
                      </a:r>
                      <a:endParaRPr sz="1100">
                        <a:solidFill>
                          <a:srgbClr val="595959"/>
                        </a:solidFill>
                      </a:endParaRPr>
                    </a:p>
                  </a:txBody>
                  <a:tcPr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595959"/>
                          </a:solidFill>
                        </a:rPr>
                        <a:t>1.09e-4</a:t>
                      </a:r>
                      <a:endParaRPr sz="1100">
                        <a:solidFill>
                          <a:srgbClr val="595959"/>
                        </a:solidFill>
                      </a:endParaRPr>
                    </a:p>
                  </a:txBody>
                  <a:tcPr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595959"/>
                          </a:solidFill>
                        </a:rPr>
                        <a:t>1.16e-4</a:t>
                      </a:r>
                      <a:endParaRPr sz="1100">
                        <a:solidFill>
                          <a:srgbClr val="595959"/>
                        </a:solidFill>
                      </a:endParaRPr>
                    </a:p>
                  </a:txBody>
                  <a:tcPr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595959"/>
                          </a:solidFill>
                        </a:rPr>
                        <a:t>1.17e-4</a:t>
                      </a:r>
                      <a:endParaRPr sz="1100">
                        <a:solidFill>
                          <a:srgbClr val="595959"/>
                        </a:solidFill>
                      </a:endParaRPr>
                    </a:p>
                  </a:txBody>
                  <a:tcPr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595959"/>
                          </a:solidFill>
                        </a:rPr>
                        <a:t>7.63e-3</a:t>
                      </a:r>
                      <a:endParaRPr sz="1100">
                        <a:solidFill>
                          <a:srgbClr val="595959"/>
                        </a:solidFill>
                      </a:endParaRPr>
                    </a:p>
                  </a:txBody>
                  <a:tcPr>
                    <a:solidFill>
                      <a:srgbClr val="EEF2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595959"/>
                          </a:solidFill>
                        </a:rPr>
                        <a:t>2000</a:t>
                      </a:r>
                      <a:endParaRPr sz="1100">
                        <a:solidFill>
                          <a:srgbClr val="595959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595959"/>
                          </a:solidFill>
                        </a:rPr>
                        <a:t>4.9e-5</a:t>
                      </a:r>
                      <a:endParaRPr sz="1100">
                        <a:solidFill>
                          <a:srgbClr val="595959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595959"/>
                          </a:solidFill>
                        </a:rPr>
                        <a:t>5.03e-5</a:t>
                      </a:r>
                      <a:endParaRPr sz="1100">
                        <a:solidFill>
                          <a:srgbClr val="595959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595959"/>
                          </a:solidFill>
                        </a:rPr>
                        <a:t>5.06e-5</a:t>
                      </a:r>
                      <a:endParaRPr sz="1100">
                        <a:solidFill>
                          <a:srgbClr val="595959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595959"/>
                          </a:solidFill>
                        </a:rPr>
                        <a:t>5.36e-3</a:t>
                      </a:r>
                      <a:endParaRPr sz="1100">
                        <a:solidFill>
                          <a:srgbClr val="595959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 panose="020F0502020204030204"/>
              </a:rPr>
              <a:t>Đối chứng A2 – tách ảnh hưởng của dữ liệu và của số bước cập nhật</a:t>
            </a:r>
            <a:endParaRPr sz="28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95959"/>
                </a:solidFill>
                <a:latin typeface="Calibri" panose="020F0502020204030204"/>
              </a:rPr>
              <a:t>8</a:t>
            </a:r>
            <a:endParaRPr sz="1100" b="0">
              <a:solidFill>
                <a:srgbClr val="595959"/>
              </a:solidFill>
              <a:latin typeface="Calibri" panose="020F0502020204030204"/>
            </a:endParaRPr>
          </a:p>
        </p:txBody>
      </p:sp>
      <p:pic>
        <p:nvPicPr>
          <p:cNvPr id="6" name="Picture 5" descr="fig05_expA_control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528980"/>
            <a:ext cx="7589520" cy="270275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1188720"/>
            <a:ext cx="39319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1">
                <a:solidFill>
                  <a:schemeClr val="tx1"/>
                </a:solidFill>
              </a:rPr>
              <a:t>• </a:t>
            </a:r>
            <a:endParaRPr sz="1500" b="0">
              <a:solidFill>
                <a:schemeClr val="tx1"/>
              </a:solidFill>
              <a:latin typeface="Calibri" panose="020F0502020204030204"/>
            </a:endParaRPr>
            <a:r>
              <a:rPr sz="1500" b="0">
                <a:solidFill>
                  <a:schemeClr val="tx1"/>
                </a:solidFill>
                <a:latin typeface="Calibri" panose="020F0502020204030204"/>
              </a:rPr>
              <a:t>Cân bằng số bước cập nhật → </a:t>
            </a:r>
            <a:r>
              <a:rPr sz="1500" b="1">
                <a:solidFill>
                  <a:schemeClr val="tx1"/>
                </a:solidFill>
                <a:latin typeface="Calibri" panose="020F0502020204030204"/>
              </a:rPr>
              <a:t>test MSE chỉ giảm ≈ 2.2×</a:t>
            </a:r>
            <a:r>
              <a:rPr sz="1500" b="0">
                <a:solidFill>
                  <a:schemeClr val="tx1"/>
                </a:solidFill>
                <a:latin typeface="Calibri" panose="020F0502020204030204"/>
              </a:rPr>
              <a:t> (1.09e-4 → 5.06e-5), gần như phẳng khi A ≥ 800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chemeClr val="tx1"/>
                </a:solidFill>
              </a:rPr>
              <a:t>• </a:t>
            </a:r>
            <a:endParaRPr sz="1500" b="0">
              <a:solidFill>
                <a:schemeClr val="tx1"/>
              </a:solidFill>
              <a:latin typeface="Calibri" panose="020F0502020204030204"/>
            </a:endParaRPr>
            <a:r>
              <a:rPr sz="1500" b="0">
                <a:solidFill>
                  <a:schemeClr val="tx1"/>
                </a:solidFill>
                <a:latin typeface="Calibri" panose="020F0502020204030204"/>
              </a:rPr>
              <a:t>Phần lớn cải thiện ở nhóm A do được tối ưu nhiều hơn, không chỉ do nhiều dữ liệu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chemeClr val="tx1"/>
                </a:solidFill>
              </a:rPr>
              <a:t>• </a:t>
            </a:r>
            <a:endParaRPr sz="1500" b="0">
              <a:solidFill>
                <a:schemeClr val="tx1"/>
              </a:solidFill>
              <a:latin typeface="Calibri" panose="020F0502020204030204"/>
            </a:endParaRPr>
            <a:r>
              <a:rPr sz="1500" b="0">
                <a:solidFill>
                  <a:schemeClr val="tx1"/>
                </a:solidFill>
                <a:latin typeface="Calibri" panose="020F0502020204030204"/>
              </a:rPr>
              <a:t>Sai số ≈ 5·10⁻⁵–9·10⁻⁵ nhiều khả năng bị giới hạn bởi </a:t>
            </a:r>
            <a:r>
              <a:rPr sz="1500" b="1">
                <a:solidFill>
                  <a:schemeClr val="tx1"/>
                </a:solidFill>
                <a:latin typeface="Calibri" panose="020F0502020204030204"/>
              </a:rPr>
              <a:t>dung lượng mô hình</a:t>
            </a:r>
            <a:r>
              <a:rPr sz="1500" b="0">
                <a:solidFill>
                  <a:schemeClr val="tx1"/>
                </a:solidFill>
                <a:latin typeface="Calibri" panose="020F0502020204030204"/>
              </a:rPr>
              <a:t> (B = 10, C = 1)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chemeClr val="tx1"/>
                </a:solidFill>
              </a:rPr>
              <a:t>• </a:t>
            </a:r>
            <a:endParaRPr sz="1500" b="0">
              <a:solidFill>
                <a:schemeClr val="tx1"/>
              </a:solidFill>
              <a:latin typeface="Calibri" panose="020F0502020204030204"/>
            </a:endParaRPr>
            <a:r>
              <a:rPr sz="1500" b="0">
                <a:solidFill>
                  <a:schemeClr val="tx1"/>
                </a:solidFill>
                <a:latin typeface="Calibri" panose="020F0502020204030204"/>
              </a:rPr>
              <a:t>Dữ liệu vẫn quan trọng khi A nhỏ: test/train = 1.65 tại A = 200 → ≈ 1.0–1.15 khi A ≥ 800</a:t>
            </a:r>
          </a:p>
        </p:txBody>
      </p:sp>
      <p:pic>
        <p:nvPicPr>
          <p:cNvPr id="8" name="Picture 7" descr="fig09_loss_curv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4588745"/>
            <a:ext cx="7589520" cy="179530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 panose="020F0502020204030204"/>
              </a:rPr>
              <a:t>Nhóm B – số nơ-ron tầng ẩn (A = 2000, C = 1)</a:t>
            </a:r>
            <a:endParaRPr sz="28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95959"/>
                </a:solidFill>
                <a:latin typeface="Calibri" panose="020F0502020204030204"/>
              </a:rPr>
              <a:t>9</a:t>
            </a:r>
            <a:endParaRPr sz="1100" b="0">
              <a:solidFill>
                <a:srgbClr val="595959"/>
              </a:solidFill>
              <a:latin typeface="Calibri" panose="020F0502020204030204"/>
            </a:endParaRPr>
          </a:p>
        </p:txBody>
      </p:sp>
      <p:pic>
        <p:nvPicPr>
          <p:cNvPr id="6" name="Picture 5" descr="fig06_expB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414641"/>
            <a:ext cx="7680960" cy="2748557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138160" y="1188720"/>
            <a:ext cx="38404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1">
                <a:solidFill>
                  <a:schemeClr val="tx1"/>
                </a:solidFill>
              </a:rPr>
              <a:t>• </a:t>
            </a:r>
            <a:endParaRPr sz="1500" b="0">
              <a:solidFill>
                <a:schemeClr val="tx1"/>
              </a:solidFill>
              <a:latin typeface="Calibri" panose="020F0502020204030204"/>
            </a:endParaRPr>
            <a:r>
              <a:rPr sz="1500" b="1">
                <a:solidFill>
                  <a:schemeClr val="tx1"/>
                </a:solidFill>
                <a:latin typeface="Calibri" panose="020F0502020204030204"/>
              </a:rPr>
              <a:t>Thiếu khớp:</a:t>
            </a:r>
            <a:r>
              <a:rPr sz="1500" b="0">
                <a:solidFill>
                  <a:schemeClr val="tx1"/>
                </a:solidFill>
                <a:latin typeface="Calibri" panose="020F0502020204030204"/>
              </a:rPr>
              <a:t> B = 1 → test MSE 3.44e-3 ≈ phương sai y (R² ≈ 0)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chemeClr val="tx1"/>
                </a:solidFill>
              </a:rPr>
              <a:t>• </a:t>
            </a:r>
            <a:endParaRPr sz="1500" b="0">
              <a:solidFill>
                <a:schemeClr val="tx1"/>
              </a:solidFill>
              <a:latin typeface="Calibri" panose="020F0502020204030204"/>
            </a:endParaRPr>
            <a:r>
              <a:rPr sz="1500" b="0">
                <a:solidFill>
                  <a:schemeClr val="tx1"/>
                </a:solidFill>
                <a:latin typeface="Calibri" panose="020F0502020204030204"/>
              </a:rPr>
              <a:t>Giảm đều: B = 10 → 5.06e-5; B = 32 → 2.53e-5; B = 64 → 9.52e-6, </a:t>
            </a:r>
            <a:r>
              <a:rPr sz="1500" b="1">
                <a:solidFill>
                  <a:schemeClr val="tx1"/>
                </a:solidFill>
                <a:latin typeface="Calibri" panose="020F0502020204030204"/>
              </a:rPr>
              <a:t>chưa bão hoà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chemeClr val="tx1"/>
                </a:solidFill>
              </a:rPr>
              <a:t>• </a:t>
            </a:r>
            <a:endParaRPr sz="1500" b="0">
              <a:solidFill>
                <a:schemeClr val="tx1"/>
              </a:solidFill>
              <a:latin typeface="Calibri" panose="020F0502020204030204"/>
            </a:endParaRPr>
            <a:r>
              <a:rPr sz="1500" b="0">
                <a:solidFill>
                  <a:schemeClr val="tx1"/>
                </a:solidFill>
                <a:latin typeface="Calibri" panose="020F0502020204030204"/>
              </a:rPr>
              <a:t>B = 9 bất thường do </a:t>
            </a:r>
            <a:r>
              <a:rPr sz="1500" b="1">
                <a:solidFill>
                  <a:schemeClr val="tx1"/>
                </a:solidFill>
                <a:latin typeface="Calibri" panose="020F0502020204030204"/>
              </a:rPr>
              <a:t>một số seed hội tụ kém</a:t>
            </a:r>
            <a:r>
              <a:rPr sz="1500" b="0">
                <a:solidFill>
                  <a:schemeClr val="tx1"/>
                </a:solidFill>
                <a:latin typeface="Calibri" panose="020F0502020204030204"/>
              </a:rPr>
              <a:t> → cần nhiều seed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chemeClr val="tx1"/>
                </a:solidFill>
              </a:rPr>
              <a:t>• </a:t>
            </a:r>
            <a:endParaRPr sz="1500" b="0">
              <a:solidFill>
                <a:schemeClr val="tx1"/>
              </a:solidFill>
              <a:latin typeface="Calibri" panose="020F0502020204030204"/>
            </a:endParaRPr>
            <a:r>
              <a:rPr sz="1500" b="1">
                <a:solidFill>
                  <a:schemeClr val="tx1"/>
                </a:solidFill>
                <a:latin typeface="Calibri" panose="020F0502020204030204"/>
              </a:rPr>
              <a:t>Không quá khớp thật</a:t>
            </a:r>
            <a:r>
              <a:rPr sz="1500" b="0">
                <a:solidFill>
                  <a:schemeClr val="tx1"/>
                </a:solidFill>
                <a:latin typeface="Calibri" panose="020F0502020204030204"/>
              </a:rPr>
              <a:t>: dữ liệu không nhiễu, ≤ 257 tham số ≪ 2000 mẫu; B2 (A = 200) chỉ làm khoảng cách train–test rộng ra</a:t>
            </a:r>
          </a:p>
        </p:txBody>
      </p:sp>
      <p:pic>
        <p:nvPicPr>
          <p:cNvPr id="8" name="Picture 7" descr="fig07_expB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1703" y="4480560"/>
            <a:ext cx="5366192" cy="192024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 panose="020F0502020204030204"/>
              </a:rPr>
              <a:t>Nhóm C – số tầng ẩn (A = 2000, 10 nơ-ron/tầng)</a:t>
            </a:r>
            <a:endParaRPr sz="28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95959"/>
                </a:solidFill>
                <a:latin typeface="Calibri" panose="020F0502020204030204"/>
              </a:rPr>
              <a:t>10</a:t>
            </a:r>
            <a:endParaRPr sz="1100" b="0">
              <a:solidFill>
                <a:srgbClr val="595959"/>
              </a:solidFill>
              <a:latin typeface="Calibri" panose="020F050202020403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0058400" cy="2451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endParaRPr sz="1000" b="0">
              <a:solidFill>
                <a:srgbClr val="595959"/>
              </a:solidFill>
              <a:latin typeface="Calibri" panose="020F0502020204030204"/>
            </a:endParaRPr>
          </a:p>
        </p:txBody>
      </p:sp>
      <p:pic>
        <p:nvPicPr>
          <p:cNvPr id="6" name="Picture 5" descr="fig08_expC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179360"/>
            <a:ext cx="11612880" cy="303623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4389120"/>
            <a:ext cx="111556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1">
                <a:solidFill>
                  <a:schemeClr val="tx1"/>
                </a:solidFill>
              </a:rPr>
              <a:t>• </a:t>
            </a:r>
            <a:endParaRPr sz="1500" b="0">
              <a:solidFill>
                <a:schemeClr val="tx1"/>
              </a:solidFill>
              <a:latin typeface="Calibri" panose="020F0502020204030204"/>
            </a:endParaRPr>
            <a:r>
              <a:rPr sz="1500" b="0">
                <a:solidFill>
                  <a:schemeClr val="tx1"/>
                </a:solidFill>
                <a:latin typeface="Calibri" panose="020F0502020204030204"/>
              </a:rPr>
              <a:t>C = 1 → 2: test MSE </a:t>
            </a:r>
            <a:r>
              <a:rPr sz="1500" b="1">
                <a:solidFill>
                  <a:schemeClr val="tx1"/>
                </a:solidFill>
                <a:latin typeface="Calibri" panose="020F0502020204030204"/>
              </a:rPr>
              <a:t>5.06e-5 → 5.36e-7</a:t>
            </a:r>
            <a:r>
              <a:rPr sz="1500" b="0">
                <a:solidFill>
                  <a:schemeClr val="tx1"/>
                </a:solidFill>
                <a:latin typeface="Calibri" panose="020F0502020204030204"/>
              </a:rPr>
              <a:t> (≈ 94×); tốt nhất C = 3 (5.21e-7, trong phạm vi std của C = 2); C = 4–5 hơi kém hơn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chemeClr val="tx1"/>
                </a:solidFill>
              </a:rPr>
              <a:t>• </a:t>
            </a:r>
            <a:endParaRPr sz="1500" b="0">
              <a:solidFill>
                <a:schemeClr val="tx1"/>
              </a:solidFill>
              <a:latin typeface="Calibri" panose="020F0502020204030204"/>
            </a:endParaRPr>
            <a:r>
              <a:rPr sz="1500" b="0">
                <a:solidFill>
                  <a:schemeClr val="tx1"/>
                </a:solidFill>
                <a:latin typeface="Calibri" panose="020F0502020204030204"/>
              </a:rPr>
              <a:t>Mạng sâu </a:t>
            </a:r>
            <a:r>
              <a:rPr sz="1500" b="1">
                <a:solidFill>
                  <a:schemeClr val="tx1"/>
                </a:solidFill>
                <a:latin typeface="Calibri" panose="020F0502020204030204"/>
              </a:rPr>
              <a:t>hội tụ nhanh hơn</a:t>
            </a:r>
            <a:r>
              <a:rPr sz="1500" b="0">
                <a:solidFill>
                  <a:schemeClr val="tx1"/>
                </a:solidFill>
                <a:latin typeface="Calibri" panose="020F0502020204030204"/>
              </a:rPr>
              <a:t> và dừng sớm: best epoch 992 → 408, thời gian 58.6 → 25.3 s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chemeClr val="tx1"/>
                </a:solidFill>
              </a:rPr>
              <a:t>• </a:t>
            </a:r>
            <a:endParaRPr sz="1500" b="0">
              <a:solidFill>
                <a:schemeClr val="tx1"/>
              </a:solidFill>
              <a:latin typeface="Calibri" panose="020F0502020204030204"/>
            </a:endParaRPr>
            <a:r>
              <a:rPr sz="1500" b="0">
                <a:solidFill>
                  <a:schemeClr val="tx1"/>
                </a:solidFill>
                <a:latin typeface="Calibri" panose="020F0502020204030204"/>
              </a:rPr>
              <a:t>Cùng số tham số: C = 2 (151) tốt hơn B = 32 (129) ≈ 47×; C = 3 (261) tốt hơn B = 64 (257) ≈ 18×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 panose="020F0502020204030204"/>
              </a:rPr>
              <a:t>Bảng tổng hợp ba nhóm thực nghiệm</a:t>
            </a:r>
            <a:endParaRPr sz="28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95959"/>
                </a:solidFill>
                <a:latin typeface="Calibri" panose="020F0502020204030204"/>
              </a:rPr>
              <a:t>11</a:t>
            </a:r>
            <a:endParaRPr sz="1100" b="0">
              <a:solidFill>
                <a:srgbClr val="595959"/>
              </a:solidFill>
              <a:latin typeface="Calibri" panose="020F0502020204030204"/>
            </a:endParaRP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280160"/>
          <a:ext cx="1106424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3291840"/>
                <a:gridCol w="5394960"/>
              </a:tblGrid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</a:rPr>
                        <a:t>Yếu tố</a:t>
                      </a:r>
                      <a:endParaRPr sz="160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</a:rPr>
                        <a:t>Test MSE (trung bình)</a:t>
                      </a:r>
                      <a:endParaRPr sz="160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</a:rPr>
                        <a:t>Nhận xét</a:t>
                      </a:r>
                      <a:endParaRPr sz="160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1F386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solidFill>
                            <a:srgbClr val="595959"/>
                          </a:solidFill>
                        </a:rPr>
                        <a:t>A: 200 → 2000</a:t>
                      </a:r>
                      <a:endParaRPr sz="1600">
                        <a:solidFill>
                          <a:srgbClr val="595959"/>
                        </a:solidFill>
                      </a:endParaRPr>
                    </a:p>
                  </a:txBody>
                  <a:tcPr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solidFill>
                            <a:srgbClr val="595959"/>
                          </a:solidFill>
                        </a:rPr>
                        <a:t>1.10e-3 → 5.06e-5 (A2: 1.09e-4 → 5.06e-5)</a:t>
                      </a:r>
                      <a:endParaRPr sz="1600">
                        <a:solidFill>
                          <a:srgbClr val="595959"/>
                        </a:solidFill>
                      </a:endParaRPr>
                    </a:p>
                  </a:txBody>
                  <a:tcPr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solidFill>
                            <a:srgbClr val="595959"/>
                          </a:solidFill>
                        </a:rPr>
                        <a:t>Giảm; phần lớn do nhiều bước cập nhật hơn (A2 gần như phẳng khi A ≥ 800)</a:t>
                      </a:r>
                      <a:endParaRPr sz="1600">
                        <a:solidFill>
                          <a:srgbClr val="595959"/>
                        </a:solidFill>
                      </a:endParaRPr>
                    </a:p>
                  </a:txBody>
                  <a:tcPr>
                    <a:solidFill>
                      <a:srgbClr val="EEF2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solidFill>
                            <a:srgbClr val="595959"/>
                          </a:solidFill>
                        </a:rPr>
                        <a:t>B: 1 → 64</a:t>
                      </a:r>
                      <a:endParaRPr sz="1600">
                        <a:solidFill>
                          <a:srgbClr val="595959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solidFill>
                            <a:srgbClr val="595959"/>
                          </a:solidFill>
                        </a:rPr>
                        <a:t>3.44e-3 → 9.52e-6</a:t>
                      </a:r>
                      <a:endParaRPr sz="1600">
                        <a:solidFill>
                          <a:srgbClr val="595959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solidFill>
                            <a:srgbClr val="595959"/>
                          </a:solidFill>
                        </a:rPr>
                        <a:t>Thiếu khớp ở B nhỏ; chưa bão hoà đến B = 64; không quá khớp thật</a:t>
                      </a:r>
                      <a:endParaRPr sz="1600">
                        <a:solidFill>
                          <a:srgbClr val="595959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solidFill>
                            <a:srgbClr val="595959"/>
                          </a:solidFill>
                        </a:rPr>
                        <a:t>C: 1 → 5</a:t>
                      </a:r>
                      <a:endParaRPr sz="1600">
                        <a:solidFill>
                          <a:srgbClr val="595959"/>
                        </a:solidFill>
                      </a:endParaRPr>
                    </a:p>
                  </a:txBody>
                  <a:tcPr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solidFill>
                            <a:srgbClr val="595959"/>
                          </a:solidFill>
                        </a:rPr>
                        <a:t>5.06e-5 → 8.59e-7</a:t>
                      </a:r>
                      <a:endParaRPr sz="1600">
                        <a:solidFill>
                          <a:srgbClr val="595959"/>
                        </a:solidFill>
                      </a:endParaRPr>
                    </a:p>
                  </a:txBody>
                  <a:tcPr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solidFill>
                            <a:srgbClr val="595959"/>
                          </a:solidFill>
                        </a:rPr>
                        <a:t>Bước nhảy lớn nhất C = 1 → 2; tốt nhất C = 3</a:t>
                      </a:r>
                      <a:endParaRPr sz="1600">
                        <a:solidFill>
                          <a:srgbClr val="595959"/>
                        </a:solidFill>
                      </a:endParaRPr>
                    </a:p>
                  </a:txBody>
                  <a:tcPr>
                    <a:solidFill>
                      <a:srgbClr val="EEF2F8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3474720"/>
            <a:ext cx="110642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 b="1">
                <a:solidFill>
                  <a:schemeClr val="tx1"/>
                </a:solidFill>
              </a:rPr>
              <a:t>• </a:t>
            </a:r>
            <a:r>
              <a:rPr sz="1700" b="0">
                <a:solidFill>
                  <a:schemeClr val="tx1"/>
                </a:solidFill>
                <a:latin typeface="Calibri" panose="020F0502020204030204"/>
              </a:rPr>
              <a:t>Không có đường cong chữ U như minh hoạ lý thuyết: dữ liệu không nhiễu, hàm trơn, mô hình nhỏ, chọn checkpoint theo validation.</a:t>
            </a:r>
            <a:endParaRPr sz="1700" b="0">
              <a:solidFill>
                <a:schemeClr val="tx1"/>
              </a:solidFill>
              <a:latin typeface="Calibri" panose="020F0502020204030204"/>
            </a:endParaRPr>
          </a:p>
          <a:p>
            <a:pPr>
              <a:spcAft>
                <a:spcPts val="800"/>
              </a:spcAft>
            </a:pPr>
            <a:r>
              <a:rPr sz="1700" b="1">
                <a:solidFill>
                  <a:schemeClr val="tx1"/>
                </a:solidFill>
              </a:rPr>
              <a:t>• </a:t>
            </a:r>
            <a:r>
              <a:rPr sz="1700" b="0">
                <a:solidFill>
                  <a:schemeClr val="tx1"/>
                </a:solidFill>
                <a:latin typeface="Calibri" panose="020F0502020204030204"/>
              </a:rPr>
              <a:t>Khác báo cáo mẫu ("nhiều tầng → tệ hơn"): thiết lập khác (tanh + Adam + khởi tạo theo fan_in); chưa kiểm chứng riêng nguyên nhân.</a:t>
            </a:r>
            <a:endParaRPr sz="1700" b="0">
              <a:solidFill>
                <a:schemeClr val="tx1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 panose="020F0502020204030204"/>
              </a:rPr>
              <a:t>Mô hình được chọn và minh hoạ xấp xỉ</a:t>
            </a:r>
            <a:endParaRPr sz="28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95959"/>
                </a:solidFill>
                <a:latin typeface="Calibri" panose="020F0502020204030204"/>
              </a:rPr>
              <a:t>12</a:t>
            </a:r>
            <a:endParaRPr sz="1100" b="0">
              <a:solidFill>
                <a:srgbClr val="595959"/>
              </a:solidFill>
              <a:latin typeface="Calibri" panose="020F0502020204030204"/>
            </a:endParaRPr>
          </a:p>
        </p:txBody>
      </p:sp>
      <p:pic>
        <p:nvPicPr>
          <p:cNvPr id="6" name="Picture 5" descr="fig12_final_surfac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2939" y="1097280"/>
            <a:ext cx="10215641" cy="3200400"/>
          </a:xfrm>
          <a:prstGeom prst="rect">
            <a:avLst/>
          </a:prstGeom>
        </p:spPr>
      </p:pic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4480560"/>
          <a:ext cx="6949440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83280"/>
                <a:gridCol w="1188720"/>
                <a:gridCol w="1188720"/>
                <a:gridCol w="1188720"/>
              </a:tblGrid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Mô hình (chọn theo validation)</a:t>
                      </a:r>
                      <a:endParaRPr sz="120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Test MSE</a:t>
                      </a:r>
                      <a:endParaRPr sz="120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Test MAE</a:t>
                      </a:r>
                      <a:endParaRPr sz="120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Test RMSE</a:t>
                      </a:r>
                      <a:endParaRPr sz="120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1F386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595959"/>
                          </a:solidFill>
                        </a:rPr>
                        <a:t>C:C3 (hidden = [10, 10, 10], seed 2)</a:t>
                      </a:r>
                      <a:endParaRPr sz="1200">
                        <a:solidFill>
                          <a:srgbClr val="595959"/>
                        </a:solidFill>
                      </a:endParaRPr>
                    </a:p>
                  </a:txBody>
                  <a:tcPr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595959"/>
                          </a:solidFill>
                        </a:rPr>
                        <a:t>3.68e-7</a:t>
                      </a:r>
                      <a:endParaRPr sz="1200">
                        <a:solidFill>
                          <a:srgbClr val="595959"/>
                        </a:solidFill>
                      </a:endParaRPr>
                    </a:p>
                  </a:txBody>
                  <a:tcPr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595959"/>
                          </a:solidFill>
                        </a:rPr>
                        <a:t>4.11e-4</a:t>
                      </a:r>
                      <a:endParaRPr sz="1200">
                        <a:solidFill>
                          <a:srgbClr val="595959"/>
                        </a:solidFill>
                      </a:endParaRPr>
                    </a:p>
                  </a:txBody>
                  <a:tcPr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595959"/>
                          </a:solidFill>
                        </a:rPr>
                        <a:t>6.07e-4</a:t>
                      </a:r>
                      <a:endParaRPr sz="1200">
                        <a:solidFill>
                          <a:srgbClr val="595959"/>
                        </a:solidFill>
                      </a:endParaRPr>
                    </a:p>
                  </a:txBody>
                  <a:tcPr>
                    <a:solidFill>
                      <a:srgbClr val="EEF2F8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7680960" y="4389120"/>
            <a:ext cx="42976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1">
                <a:solidFill>
                  <a:schemeClr val="tx1"/>
                </a:solidFill>
              </a:rPr>
              <a:t>• </a:t>
            </a:r>
            <a:endParaRPr sz="1400" b="0">
              <a:solidFill>
                <a:schemeClr val="tx1"/>
              </a:solidFill>
              <a:latin typeface="Calibri" panose="020F0502020204030204"/>
            </a:endParaRPr>
            <a:r>
              <a:rPr sz="1400" b="0">
                <a:solidFill>
                  <a:schemeClr val="tx1"/>
                </a:solidFill>
                <a:latin typeface="Calibri" panose="020F0502020204030204"/>
              </a:rPr>
              <a:t>Sai số lớn nhất ≈ 0.8% giá trị đỉnh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chemeClr val="tx1"/>
                </a:solidFill>
              </a:rPr>
              <a:t>• </a:t>
            </a:r>
            <a:r>
              <a:rPr sz="1400" b="0">
                <a:solidFill>
                  <a:schemeClr val="tx1"/>
                </a:solidFill>
                <a:latin typeface="Calibri" panose="020F0502020204030204"/>
              </a:rPr>
              <a:t>Sai số tập trung quanh đỉnh; vùng phẳng y ≈ 0 gần như chính xác</a:t>
            </a:r>
            <a:endParaRPr sz="1400" b="0">
              <a:solidFill>
                <a:schemeClr val="tx1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 panose="020F0502020204030204"/>
              </a:rPr>
              <a:t>Kết luận, hạn chế và hướng cải tiến</a:t>
            </a:r>
            <a:endParaRPr sz="28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95959"/>
                </a:solidFill>
                <a:latin typeface="Calibri" panose="020F0502020204030204"/>
              </a:rPr>
              <a:t>13</a:t>
            </a:r>
            <a:endParaRPr sz="1100" b="0">
              <a:solidFill>
                <a:srgbClr val="595959"/>
              </a:solidFill>
              <a:latin typeface="Calibri" panose="020F0502020204030204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55778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1">
                <a:solidFill>
                  <a:schemeClr val="tx1"/>
                </a:solidFill>
              </a:rPr>
              <a:t>• </a:t>
            </a:r>
            <a:r>
              <a:rPr sz="1600" b="1">
                <a:solidFill>
                  <a:schemeClr val="tx1"/>
                </a:solidFill>
                <a:latin typeface="Calibri" panose="020F0502020204030204"/>
              </a:rPr>
              <a:t>Kết luận</a:t>
            </a:r>
            <a:endParaRPr sz="1600" b="1">
              <a:solidFill>
                <a:schemeClr val="tx1"/>
              </a:solidFill>
              <a:latin typeface="Calibri" panose="020F0502020204030204"/>
            </a:endParaRPr>
          </a:p>
          <a:p>
            <a:pPr>
              <a:spcAft>
                <a:spcPts val="800"/>
              </a:spcAft>
            </a:pPr>
            <a:r>
              <a:rPr sz="1600" b="1">
                <a:solidFill>
                  <a:schemeClr val="tx1"/>
                </a:solidFill>
              </a:rPr>
              <a:t>• </a:t>
            </a:r>
            <a:r>
              <a:rPr sz="1600" b="0">
                <a:solidFill>
                  <a:schemeClr val="tx1"/>
                </a:solidFill>
                <a:latin typeface="Calibri" panose="020F0502020204030204"/>
              </a:rPr>
              <a:t>MLP tanh + Adam xấp xỉ rất tốt Gaussian 2D (MSE test ~10⁻⁷ với 3 tầng ẩn).</a:t>
            </a:r>
            <a:endParaRPr sz="1600" b="0">
              <a:solidFill>
                <a:schemeClr val="tx1"/>
              </a:solidFill>
              <a:latin typeface="Calibri" panose="020F0502020204030204"/>
            </a:endParaRPr>
          </a:p>
          <a:p>
            <a:pPr>
              <a:spcAft>
                <a:spcPts val="800"/>
              </a:spcAft>
            </a:pPr>
            <a:r>
              <a:rPr sz="1600" b="1">
                <a:solidFill>
                  <a:schemeClr val="tx1"/>
                </a:solidFill>
              </a:rPr>
              <a:t>• </a:t>
            </a:r>
            <a:r>
              <a:rPr sz="1600" b="0">
                <a:solidFill>
                  <a:schemeClr val="tx1"/>
                </a:solidFill>
                <a:latin typeface="Calibri" panose="020F0502020204030204"/>
              </a:rPr>
              <a:t>A: dữ liệu giúp ích, nhưng dung lượng &amp; ngân sách tối ưu quan trọng hơn với mô hình nhỏ.</a:t>
            </a:r>
            <a:endParaRPr sz="1600" b="0">
              <a:solidFill>
                <a:schemeClr val="tx1"/>
              </a:solidFill>
              <a:latin typeface="Calibri" panose="020F0502020204030204"/>
            </a:endParaRPr>
          </a:p>
          <a:p>
            <a:pPr>
              <a:spcAft>
                <a:spcPts val="800"/>
              </a:spcAft>
            </a:pPr>
            <a:r>
              <a:rPr sz="1600" b="1">
                <a:solidFill>
                  <a:schemeClr val="tx1"/>
                </a:solidFill>
              </a:rPr>
              <a:t>• </a:t>
            </a:r>
            <a:endParaRPr sz="1600" b="0">
              <a:solidFill>
                <a:schemeClr val="tx1"/>
              </a:solidFill>
              <a:latin typeface="Calibri" panose="020F0502020204030204"/>
            </a:endParaRPr>
            <a:r>
              <a:rPr sz="1600" b="0">
                <a:solidFill>
                  <a:schemeClr val="tx1"/>
                </a:solidFill>
                <a:latin typeface="Calibri" panose="020F0502020204030204"/>
              </a:rPr>
              <a:t>B nhỏ → thiếu khớp nặng; giảm đều đến B = 64, chưa bão hoà.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chemeClr val="tx1"/>
                </a:solidFill>
              </a:rPr>
              <a:t>• </a:t>
            </a:r>
            <a:endParaRPr sz="1600" b="0">
              <a:solidFill>
                <a:schemeClr val="tx1"/>
              </a:solidFill>
              <a:latin typeface="Calibri" panose="020F0502020204030204"/>
            </a:endParaRPr>
            <a:r>
              <a:rPr sz="1600" b="0">
                <a:solidFill>
                  <a:schemeClr val="tx1"/>
                </a:solidFill>
                <a:latin typeface="Calibri" panose="020F0502020204030204"/>
              </a:rPr>
              <a:t>C: tầng ẩn thứ hai cải thiện ≈ 94×, hội tụ nhanh.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1188720"/>
            <a:ext cx="55778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1">
                <a:solidFill>
                  <a:schemeClr val="tx1"/>
                </a:solidFill>
              </a:rPr>
              <a:t>• </a:t>
            </a:r>
            <a:r>
              <a:rPr sz="1600" b="1">
                <a:solidFill>
                  <a:schemeClr val="tx1"/>
                </a:solidFill>
                <a:latin typeface="Calibri" panose="020F0502020204030204"/>
              </a:rPr>
              <a:t>Hạn chế / cải tiến</a:t>
            </a:r>
            <a:endParaRPr sz="1600" b="1">
              <a:solidFill>
                <a:schemeClr val="tx1"/>
              </a:solidFill>
              <a:latin typeface="Calibri" panose="020F0502020204030204"/>
            </a:endParaRPr>
          </a:p>
          <a:p>
            <a:pPr>
              <a:spcAft>
                <a:spcPts val="800"/>
              </a:spcAft>
            </a:pPr>
            <a:r>
              <a:rPr sz="1600" b="1">
                <a:solidFill>
                  <a:schemeClr val="tx1"/>
                </a:solidFill>
              </a:rPr>
              <a:t>• </a:t>
            </a:r>
            <a:r>
              <a:rPr sz="1600" b="0">
                <a:solidFill>
                  <a:schemeClr val="tx1"/>
                </a:solidFill>
                <a:latin typeface="Calibri" panose="020F0502020204030204"/>
              </a:rPr>
              <a:t>Một bộ dữ liệu (seed 2026); test chỉ 100 mẫu → lặp nhiều bộ dữ liệu / k-fold.</a:t>
            </a:r>
            <a:endParaRPr sz="1600" b="0">
              <a:solidFill>
                <a:schemeClr val="tx1"/>
              </a:solidFill>
              <a:latin typeface="Calibri" panose="020F0502020204030204"/>
            </a:endParaRPr>
          </a:p>
          <a:p>
            <a:pPr>
              <a:spcAft>
                <a:spcPts val="800"/>
              </a:spcAft>
            </a:pPr>
            <a:r>
              <a:rPr sz="1600" b="1">
                <a:solidFill>
                  <a:schemeClr val="tx1"/>
                </a:solidFill>
              </a:rPr>
              <a:t>• </a:t>
            </a:r>
            <a:r>
              <a:rPr sz="1600" b="0">
                <a:solidFill>
                  <a:schemeClr val="tx1"/>
                </a:solidFill>
                <a:latin typeface="Calibri" panose="020F0502020204030204"/>
              </a:rPr>
              <a:t>lr cố định; thử lịch giảm lr, ReLU/SiLU, SGD+momentum.</a:t>
            </a:r>
            <a:endParaRPr sz="1600" b="0">
              <a:solidFill>
                <a:schemeClr val="tx1"/>
              </a:solidFill>
              <a:latin typeface="Calibri" panose="020F0502020204030204"/>
            </a:endParaRPr>
          </a:p>
          <a:p>
            <a:pPr>
              <a:spcAft>
                <a:spcPts val="800"/>
              </a:spcAft>
            </a:pPr>
            <a:r>
              <a:rPr sz="1600" b="1">
                <a:solidFill>
                  <a:schemeClr val="tx1"/>
                </a:solidFill>
              </a:rPr>
              <a:t>• </a:t>
            </a:r>
            <a:r>
              <a:rPr sz="1600" b="0">
                <a:solidFill>
                  <a:schemeClr val="tx1"/>
                </a:solidFill>
                <a:latin typeface="Calibri" panose="020F0502020204030204"/>
              </a:rPr>
              <a:t>Thêm nhiễu vào nhãn để khảo sát quá khớp rõ hơn.</a:t>
            </a:r>
            <a:endParaRPr sz="1600" b="0">
              <a:solidFill>
                <a:schemeClr val="tx1"/>
              </a:solidFill>
              <a:latin typeface="Calibri" panose="020F0502020204030204"/>
            </a:endParaRPr>
          </a:p>
          <a:p>
            <a:pPr>
              <a:spcAft>
                <a:spcPts val="800"/>
              </a:spcAft>
            </a:pPr>
            <a:r>
              <a:rPr sz="1600" b="1">
                <a:solidFill>
                  <a:schemeClr val="tx1"/>
                </a:solidFill>
              </a:rPr>
              <a:t>• </a:t>
            </a:r>
            <a:r>
              <a:rPr sz="1600" b="0">
                <a:solidFill>
                  <a:schemeClr val="tx1"/>
                </a:solidFill>
                <a:latin typeface="Calibri" panose="020F0502020204030204"/>
              </a:rPr>
              <a:t>Đo thời gian trên PyTorch/GPU; so sánh ở cùng số tham số.</a:t>
            </a:r>
            <a:endParaRPr sz="1600" b="0">
              <a:solidFill>
                <a:schemeClr val="tx1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5742</Words>
  <Application>WPS Presentation</Application>
  <PresentationFormat>On-screen Show (4:3)</PresentationFormat>
  <Paragraphs>246</Paragraphs>
  <Slides>13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23" baseType="lpstr">
      <vt:lpstr>Arial</vt:lpstr>
      <vt:lpstr>SimSun</vt:lpstr>
      <vt:lpstr>Wingdings</vt:lpstr>
      <vt:lpstr>Arial</vt:lpstr>
      <vt:lpstr>Calibri</vt:lpstr>
      <vt:lpstr>Consolas</vt:lpstr>
      <vt:lpstr>Microsoft YaHei</vt:lpstr>
      <vt:lpstr>Arial Unicode MS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tientran</cp:lastModifiedBy>
  <cp:revision>3</cp:revision>
  <dcterms:created xsi:type="dcterms:W3CDTF">2013-01-27T09:14:00Z</dcterms:created>
  <dcterms:modified xsi:type="dcterms:W3CDTF">2026-10-29T08:07:26Z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C1F2C027A4B44CDE9926BBDE3989F0C7_12</vt:lpwstr>
  </property>
  <property fmtid="{D5CDD505-2E9C-101B-9397-08002B2CF9AE}" pid="3" name="KSOProductBuildVer">
    <vt:lpwstr>2057-12.2.0.23206</vt:lpwstr>
  </property>
</Properties>
</file>